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69" r:id="rId7"/>
  </p:sldIdLst>
  <p:sldSz cx="9144000" cy="6858000" type="screen4x3"/>
  <p:notesSz cx="7019925" cy="93059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CC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82" autoAdjust="0"/>
    <p:restoredTop sz="92796" autoAdjust="0"/>
  </p:normalViewPr>
  <p:slideViewPr>
    <p:cSldViewPr>
      <p:cViewPr>
        <p:scale>
          <a:sx n="108" d="100"/>
          <a:sy n="108" d="100"/>
        </p:scale>
        <p:origin x="293" y="701"/>
      </p:cViewPr>
      <p:guideLst>
        <p:guide orient="horz" pos="1152"/>
        <p:guide pos="2880"/>
      </p:guideLst>
    </p:cSldViewPr>
  </p:slideViewPr>
  <p:outlineViewPr>
    <p:cViewPr>
      <p:scale>
        <a:sx n="33" d="100"/>
        <a:sy n="33" d="100"/>
      </p:scale>
      <p:origin x="0" y="6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46"/>
    </p:cViewPr>
  </p:sorterViewPr>
  <p:notesViewPr>
    <p:cSldViewPr>
      <p:cViewPr>
        <p:scale>
          <a:sx n="150" d="100"/>
          <a:sy n="150" d="100"/>
        </p:scale>
        <p:origin x="-72" y="-84"/>
      </p:cViewPr>
      <p:guideLst>
        <p:guide orient="horz" pos="2931"/>
        <p:guide pos="2211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50" Type="http://schemas.openxmlformats.org/officeDocument/2006/relationships/notesMaster" Target="notesMasters/notesMaster1.xml"/><Relationship Id="rId51" Type="http://schemas.openxmlformats.org/officeDocument/2006/relationships/handoutMaster" Target="handoutMasters/handout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6688" y="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E881C11-EAFF-47C5-B770-5D10A91EB62A}" type="datetimeFigureOut">
              <a:rPr lang="en-US"/>
              <a:pPr>
                <a:defRPr/>
              </a:pPr>
              <a:t>5/29/2013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3920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6688" y="883920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38A7398-A06A-41AA-93ED-24549848D1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191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688" y="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220FBB76-45A9-4565-9F2A-972560F67FFC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4275" y="698500"/>
            <a:ext cx="4651375" cy="348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9600"/>
            <a:ext cx="5616575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dirty="0" smtClean="0"/>
              <a:t>Click to edit Master text styles</a:t>
            </a:r>
          </a:p>
          <a:p>
            <a:pPr lvl="1"/>
            <a:r>
              <a:rPr lang="en-US" noProof="0" dirty="0" smtClean="0"/>
              <a:t>Second level</a:t>
            </a:r>
          </a:p>
          <a:p>
            <a:pPr lvl="2"/>
            <a:r>
              <a:rPr lang="en-US" noProof="0" dirty="0" smtClean="0"/>
              <a:t>Third level</a:t>
            </a:r>
          </a:p>
          <a:p>
            <a:pPr lvl="3"/>
            <a:r>
              <a:rPr lang="en-US" noProof="0" dirty="0" smtClean="0"/>
              <a:t>Fourth level</a:t>
            </a:r>
          </a:p>
          <a:p>
            <a:pPr lvl="4"/>
            <a:r>
              <a:rPr lang="en-US" noProof="0" dirty="0" smtClean="0"/>
              <a:t>Fifth level</a:t>
            </a:r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20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688" y="8839200"/>
            <a:ext cx="3041650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A61BC975-183D-495C-B6AD-95E982D7DD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671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spcAft>
                <a:spcPts val="1213"/>
              </a:spcAft>
            </a:pPr>
            <a:r>
              <a:rPr lang="en-US" smtClean="0"/>
              <a:t>Common Core State Standards are organized by: </a:t>
            </a:r>
          </a:p>
          <a:p>
            <a:pPr eaLnBrk="1" hangingPunct="1">
              <a:spcBef>
                <a:spcPct val="0"/>
              </a:spcBef>
              <a:spcAft>
                <a:spcPts val="1213"/>
              </a:spcAft>
            </a:pPr>
            <a:r>
              <a:rPr lang="en-US" b="1" smtClean="0"/>
              <a:t>Strands</a:t>
            </a:r>
            <a:r>
              <a:rPr lang="en-US" smtClean="0"/>
              <a:t> 	-major areas of study: reading, writing, listening/speaking and language.</a:t>
            </a:r>
          </a:p>
          <a:p>
            <a:pPr eaLnBrk="1" hangingPunct="1">
              <a:spcBef>
                <a:spcPct val="0"/>
              </a:spcBef>
              <a:spcAft>
                <a:spcPts val="1213"/>
              </a:spcAft>
            </a:pPr>
            <a:r>
              <a:rPr lang="en-US" b="1" smtClean="0"/>
              <a:t>Topics	-</a:t>
            </a:r>
            <a:r>
              <a:rPr lang="en-US" smtClean="0"/>
              <a:t>organizational grouping of the standards</a:t>
            </a:r>
          </a:p>
          <a:p>
            <a:pPr eaLnBrk="1" hangingPunct="1">
              <a:spcBef>
                <a:spcPct val="0"/>
              </a:spcBef>
              <a:spcAft>
                <a:spcPts val="1213"/>
              </a:spcAft>
            </a:pPr>
            <a:r>
              <a:rPr lang="en-US" b="1" smtClean="0"/>
              <a:t>Standard Statements </a:t>
            </a:r>
            <a:r>
              <a:rPr lang="en-US" smtClean="0"/>
              <a:t> - essential knowledge and skills to be learned at each grade level or grade band</a:t>
            </a:r>
          </a:p>
          <a:p>
            <a:pPr eaLnBrk="1" hangingPunct="1">
              <a:spcBef>
                <a:spcPct val="0"/>
              </a:spcBef>
            </a:pPr>
            <a:r>
              <a:rPr lang="en-US" smtClean="0"/>
              <a:t>Reminder: This is the ELA common core format. Math’s format is different. </a:t>
            </a:r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D6D65CB-90BC-47EF-B14A-22B732A2B8FF}" type="slidenum">
              <a:rPr lang="en-US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C4B04-1A6D-4F35-8320-F4BE47AAC4F8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F2AB6-9615-46E0-9DA5-8E5A71F41E2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82498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27F79-1108-42D9-8E99-CCF0260F0500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933D0E-17A6-48CF-A611-91785B437B0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46479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CAC814-BABA-4174-BC9F-9CAA5BAC3B66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6C40E0-C8F8-446C-9FBB-F7D2BAE2300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0692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DE6A19-F92C-48BD-88EB-FF5B4F6F1269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7885D9-86FE-42C5-B461-DD4C7DBA38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18919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4DCD4-EE21-4937-BF82-7DC80673DA62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F6F04-2481-4A8A-94B3-60C06424E84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6785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DF773A-7ADB-46D1-BC8F-434E4335FE05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BEFCF-C92B-4999-BB4B-94D32F77FB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479077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138123-9FAF-4572-A61A-F56E34AFE9F1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8EDBF8-A939-4E88-8BA0-969A1EA910E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855155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13EF2-C2D7-474E-80EB-551F4CD9EE47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8535B0-457F-4031-BB8A-9F3C870035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28173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8061B-5627-4309-B4FF-AD69D6B6B01F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E81CB-93D2-4F97-A5B4-E2718F66012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14555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D26290-DC88-4F39-A3F4-B5DBC2ED8F29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3D84D9-0FC3-423E-8C1D-8A06AE2B6E2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0894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69BB59-6E1D-4CAC-822E-D7BA4AF8CE22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979F6-0852-46F3-A768-9B61D33FCB7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150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41837"/>
          </a:xfrm>
          <a:ln>
            <a:noFill/>
          </a:ln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3"/>
              </a:buClr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>
            <a:lvl1pPr>
              <a:buNone/>
              <a:defRPr baseline="0">
                <a:solidFill>
                  <a:srgbClr val="FFFF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981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8B4CA-1581-4140-B00A-2B709FAC90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1391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305800" cy="4525965"/>
          </a:xfrm>
        </p:spPr>
        <p:txBody>
          <a:bodyPr/>
          <a:lstStyle>
            <a:lvl1pPr marL="173038" indent="-173038">
              <a:lnSpc>
                <a:spcPts val="2600"/>
              </a:lnSpc>
              <a:buClr>
                <a:schemeClr val="accent3">
                  <a:lumMod val="50000"/>
                </a:schemeClr>
              </a:buClr>
              <a:buFont typeface="Arial" pitchFamily="34" charset="0"/>
              <a:buChar char="•"/>
              <a:defRPr sz="2400" b="0"/>
            </a:lvl1pPr>
            <a:lvl2pPr marL="684213" indent="-227013">
              <a:lnSpc>
                <a:spcPts val="2600"/>
              </a:lnSpc>
              <a:buClr>
                <a:schemeClr val="accent3">
                  <a:lumMod val="50000"/>
                </a:schemeClr>
              </a:buClr>
              <a:defRPr sz="2000"/>
            </a:lvl2pPr>
            <a:lvl3pPr marL="1087438" indent="-173038">
              <a:lnSpc>
                <a:spcPts val="2600"/>
              </a:lnSpc>
              <a:buClr>
                <a:schemeClr val="accent3">
                  <a:lumMod val="50000"/>
                </a:schemeClr>
              </a:buClr>
              <a:defRPr sz="1800"/>
            </a:lvl3pPr>
            <a:lvl4pPr marL="1541463" indent="-169863">
              <a:lnSpc>
                <a:spcPts val="2600"/>
              </a:lnSpc>
              <a:buClr>
                <a:schemeClr val="accent3">
                  <a:lumMod val="50000"/>
                </a:schemeClr>
              </a:buClr>
              <a:defRPr sz="1600"/>
            </a:lvl4pPr>
            <a:lvl5pPr marL="2001838" indent="-173038">
              <a:lnSpc>
                <a:spcPts val="2600"/>
              </a:lnSpc>
              <a:buClr>
                <a:schemeClr val="accent3">
                  <a:lumMod val="50000"/>
                </a:schemeClr>
              </a:buClr>
              <a:defRPr sz="1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381000" y="669600"/>
            <a:ext cx="8251200" cy="457200"/>
          </a:xfrm>
        </p:spPr>
        <p:txBody>
          <a:bodyPr>
            <a:normAutofit/>
          </a:bodyPr>
          <a:lstStyle>
            <a:lvl1pPr>
              <a:buFontTx/>
              <a:buNone/>
              <a:defRPr sz="2400" i="1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152400" y="152400"/>
            <a:ext cx="8229600" cy="639763"/>
          </a:xfrm>
        </p:spPr>
        <p:txBody>
          <a:bodyPr/>
          <a:lstStyle>
            <a:lvl1pPr>
              <a:buClr>
                <a:schemeClr val="accent3">
                  <a:lumMod val="50000"/>
                </a:schemeClr>
              </a:buClr>
              <a:buNone/>
              <a:defRPr>
                <a:solidFill>
                  <a:srgbClr val="FFFF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4"/>
          </p:nvPr>
        </p:nvSpPr>
        <p:spPr>
          <a:xfrm>
            <a:off x="6248400" y="6653213"/>
            <a:ext cx="2895600" cy="365125"/>
          </a:xfrm>
        </p:spPr>
        <p:txBody>
          <a:bodyPr/>
          <a:lstStyle>
            <a:lvl1pPr algn="r">
              <a:defRPr sz="900">
                <a:solidFill>
                  <a:schemeClr val="tx2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>
          <a:xfrm>
            <a:off x="76200" y="6637338"/>
            <a:ext cx="2133600" cy="365125"/>
          </a:xfrm>
        </p:spPr>
        <p:txBody>
          <a:bodyPr/>
          <a:lstStyle>
            <a:lvl1pPr algn="l">
              <a:defRPr sz="1200" b="1">
                <a:solidFill>
                  <a:schemeClr val="tx2"/>
                </a:solidFill>
                <a:latin typeface="Segoe UI" pitchFamily="34" charset="0"/>
                <a:cs typeface="Segoe UI" pitchFamily="34" charset="0"/>
              </a:defRPr>
            </a:lvl1pPr>
          </a:lstStyle>
          <a:p>
            <a:pPr>
              <a:defRPr/>
            </a:pPr>
            <a:fld id="{09166116-9CD1-4F89-B03F-FD5227FE3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2712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41837"/>
          </a:xfrm>
          <a:ln>
            <a:noFill/>
          </a:ln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buClr>
                <a:schemeClr val="accent3"/>
              </a:buClr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</p:spPr>
        <p:txBody>
          <a:bodyPr/>
          <a:lstStyle>
            <a:lvl1pPr>
              <a:buNone/>
              <a:defRPr baseline="0">
                <a:solidFill>
                  <a:srgbClr val="FFFF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981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476A2-BC33-4443-8B01-B0573E686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4691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972610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C5A0743-6670-4211-8DF0-E29C852352AC}" type="datetimeFigureOut">
              <a:rPr lang="en-US"/>
              <a:pPr>
                <a:defRPr/>
              </a:pPr>
              <a:t>5/29/2013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5339111-A947-4BD9-8972-BB931F947A1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Diagram 3"/>
          <p:cNvGrpSpPr>
            <a:grpSpLocks/>
          </p:cNvGrpSpPr>
          <p:nvPr/>
        </p:nvGrpSpPr>
        <p:grpSpPr bwMode="auto">
          <a:xfrm>
            <a:off x="1709738" y="1905000"/>
            <a:ext cx="5572125" cy="4191000"/>
            <a:chOff x="1709735" y="1753389"/>
            <a:chExt cx="5572125" cy="4191001"/>
          </a:xfrm>
        </p:grpSpPr>
        <p:sp>
          <p:nvSpPr>
            <p:cNvPr id="5" name="Freeform 4"/>
            <p:cNvSpPr/>
            <p:nvPr/>
          </p:nvSpPr>
          <p:spPr>
            <a:xfrm>
              <a:off x="4408485" y="4199728"/>
              <a:ext cx="1916112" cy="4556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915417"/>
                <a:gd name="f4" fmla="val 455782"/>
                <a:gd name="f5" fmla="val 310602"/>
                <a:gd name="f6" fmla="*/ f0 1 1915417"/>
                <a:gd name="f7" fmla="*/ f1 1 45578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915417"/>
                <a:gd name="f14" fmla="*/ f11 1 455782"/>
                <a:gd name="f15" fmla="*/ 0 1 f13"/>
                <a:gd name="f16" fmla="*/ 1915417 1 f13"/>
                <a:gd name="f17" fmla="*/ 0 1 f14"/>
                <a:gd name="f18" fmla="*/ 455782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915417" h="455782">
                  <a:moveTo>
                    <a:pt x="f2" y="f2"/>
                  </a:moveTo>
                  <a:lnTo>
                    <a:pt x="f2" y="f5"/>
                  </a:lnTo>
                  <a:lnTo>
                    <a:pt x="f3" y="f5"/>
                  </a:lnTo>
                  <a:lnTo>
                    <a:pt x="f3" y="f4"/>
                  </a:lnTo>
                </a:path>
              </a:pathLst>
            </a:custGeom>
            <a:noFill/>
            <a:ln w="25402">
              <a:solidFill>
                <a:srgbClr val="8AB4E2"/>
              </a:solidFill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lIns="0" tIns="0" rIns="0" bIns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4362447" y="4199728"/>
              <a:ext cx="92075" cy="4556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1440"/>
                <a:gd name="f4" fmla="val 455782"/>
                <a:gd name="f5" fmla="val 45720"/>
                <a:gd name="f6" fmla="*/ f0 1 91440"/>
                <a:gd name="f7" fmla="*/ f1 1 45578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91440"/>
                <a:gd name="f14" fmla="*/ f11 1 455782"/>
                <a:gd name="f15" fmla="*/ 0 1 f13"/>
                <a:gd name="f16" fmla="*/ 91440 1 f13"/>
                <a:gd name="f17" fmla="*/ 0 1 f14"/>
                <a:gd name="f18" fmla="*/ 455782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91440" h="455782">
                  <a:moveTo>
                    <a:pt x="f5" y="f2"/>
                  </a:moveTo>
                  <a:lnTo>
                    <a:pt x="f5" y="f4"/>
                  </a:lnTo>
                </a:path>
              </a:pathLst>
            </a:custGeom>
            <a:noFill/>
            <a:ln w="25402">
              <a:solidFill>
                <a:srgbClr val="8AB4E2"/>
              </a:solidFill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lIns="0" tIns="0" rIns="0" bIns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2493960" y="4199728"/>
              <a:ext cx="1914525" cy="4556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1915417"/>
                <a:gd name="f4" fmla="val 455782"/>
                <a:gd name="f5" fmla="val 310602"/>
                <a:gd name="f6" fmla="*/ f0 1 1915417"/>
                <a:gd name="f7" fmla="*/ f1 1 45578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1915417"/>
                <a:gd name="f14" fmla="*/ f11 1 455782"/>
                <a:gd name="f15" fmla="*/ 0 1 f13"/>
                <a:gd name="f16" fmla="*/ 1915417 1 f13"/>
                <a:gd name="f17" fmla="*/ 0 1 f14"/>
                <a:gd name="f18" fmla="*/ 455782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1915417" h="455782">
                  <a:moveTo>
                    <a:pt x="f3" y="f2"/>
                  </a:moveTo>
                  <a:lnTo>
                    <a:pt x="f3" y="f5"/>
                  </a:lnTo>
                  <a:lnTo>
                    <a:pt x="f2" y="f5"/>
                  </a:lnTo>
                  <a:lnTo>
                    <a:pt x="f2" y="f4"/>
                  </a:lnTo>
                </a:path>
              </a:pathLst>
            </a:custGeom>
            <a:noFill/>
            <a:ln w="25402">
              <a:solidFill>
                <a:srgbClr val="8AB4E2"/>
              </a:solidFill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lIns="0" tIns="0" rIns="0" bIns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4362447" y="2748752"/>
              <a:ext cx="92075" cy="455612"/>
            </a:xfrm>
            <a:custGeom>
              <a:avLst/>
              <a:gdLst>
                <a:gd name="f0" fmla="val w"/>
                <a:gd name="f1" fmla="val h"/>
                <a:gd name="f2" fmla="val 0"/>
                <a:gd name="f3" fmla="val 91440"/>
                <a:gd name="f4" fmla="val 455782"/>
                <a:gd name="f5" fmla="val 45720"/>
                <a:gd name="f6" fmla="*/ f0 1 91440"/>
                <a:gd name="f7" fmla="*/ f1 1 455782"/>
                <a:gd name="f8" fmla="val f2"/>
                <a:gd name="f9" fmla="val f3"/>
                <a:gd name="f10" fmla="val f4"/>
                <a:gd name="f11" fmla="+- f10 0 f8"/>
                <a:gd name="f12" fmla="+- f9 0 f8"/>
                <a:gd name="f13" fmla="*/ f12 1 91440"/>
                <a:gd name="f14" fmla="*/ f11 1 455782"/>
                <a:gd name="f15" fmla="*/ 0 1 f13"/>
                <a:gd name="f16" fmla="*/ 91440 1 f13"/>
                <a:gd name="f17" fmla="*/ 0 1 f14"/>
                <a:gd name="f18" fmla="*/ 455782 1 f14"/>
                <a:gd name="f19" fmla="*/ f15 f6 1"/>
                <a:gd name="f20" fmla="*/ f16 f6 1"/>
                <a:gd name="f21" fmla="*/ f18 f7 1"/>
                <a:gd name="f22" fmla="*/ f17 f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</a:cxnLst>
              <a:rect l="f19" t="f22" r="f20" b="f21"/>
              <a:pathLst>
                <a:path w="91440" h="455782">
                  <a:moveTo>
                    <a:pt x="f5" y="f2"/>
                  </a:moveTo>
                  <a:lnTo>
                    <a:pt x="f5" y="f4"/>
                  </a:lnTo>
                </a:path>
              </a:pathLst>
            </a:custGeom>
            <a:noFill/>
            <a:ln w="25402">
              <a:solidFill>
                <a:srgbClr val="8AB4E2"/>
              </a:solidFill>
              <a:prstDash val="solid"/>
            </a:ln>
            <a:effectLst>
              <a:outerShdw dist="22997" dir="5400000" algn="tl">
                <a:srgbClr val="000000">
                  <a:alpha val="35000"/>
                </a:srgbClr>
              </a:outerShdw>
            </a:effectLst>
          </p:spPr>
          <p:txBody>
            <a:bodyPr lIns="0" tIns="0" rIns="0" bIns="0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>
                <a:solidFill>
                  <a:prstClr val="black"/>
                </a:solidFill>
                <a:latin typeface="+mn-lt"/>
              </a:endParaRP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3141</TotalTime>
  <Words>3969</Words>
  <Application>Microsoft Office PowerPoint</Application>
  <PresentationFormat>On-screen Show (4:3)</PresentationFormat>
  <Paragraphs>566</Paragraphs>
  <Slides>48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Ohio’s New Learning Standards: K-12 English Language Arts </vt:lpstr>
      <vt:lpstr> Session Objectives </vt:lpstr>
      <vt:lpstr>PowerPoint Presentation</vt:lpstr>
      <vt:lpstr> First Step: Revised Standards </vt:lpstr>
      <vt:lpstr> Standards Revision </vt:lpstr>
      <vt:lpstr> ELA Standards Framework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ELA Standards Format </vt:lpstr>
      <vt:lpstr>PowerPoint Presentation</vt:lpstr>
      <vt:lpstr>PowerPoint Presentation</vt:lpstr>
      <vt:lpstr>PowerPoint Presentation</vt:lpstr>
      <vt:lpstr>Additional Components  of the Learning Standards for ELA</vt:lpstr>
      <vt:lpstr>PowerPoint Presentation</vt:lpstr>
      <vt:lpstr>PowerPoint Presentation</vt:lpstr>
      <vt:lpstr>PowerPoint Presentation</vt:lpstr>
      <vt:lpstr>Transitioning to Ohio’s New Learning Standards</vt:lpstr>
      <vt:lpstr>Intentional Design Limitations</vt:lpstr>
      <vt:lpstr>PowerPoint Presentation</vt:lpstr>
      <vt:lpstr>PowerPoint Presentation</vt:lpstr>
      <vt:lpstr>ELA Crosswalk</vt:lpstr>
      <vt:lpstr>PowerPoint Presentation</vt:lpstr>
      <vt:lpstr>PowerPoint Presentation</vt:lpstr>
      <vt:lpstr>Comparative Analysis</vt:lpstr>
      <vt:lpstr>Helpful Websites</vt:lpstr>
      <vt:lpstr>Additional Resources</vt:lpstr>
      <vt:lpstr> Next Step: Model Curricula </vt:lpstr>
      <vt:lpstr> Why a Model Curriculum? </vt:lpstr>
      <vt:lpstr> What is the Model Curriculum? </vt:lpstr>
      <vt:lpstr>Model Curriculum Example</vt:lpstr>
      <vt:lpstr>PowerPoint Presentation</vt:lpstr>
      <vt:lpstr>Helpful Websites</vt:lpstr>
      <vt:lpstr>PowerPoint Presentation</vt:lpstr>
      <vt:lpstr>PowerPoint Presentation</vt:lpstr>
      <vt:lpstr>Ohio’s Decision</vt:lpstr>
      <vt:lpstr>Ohio’s New Assessments</vt:lpstr>
      <vt:lpstr>PowerPoint Presentation</vt:lpstr>
      <vt:lpstr>Follow PARCC Development</vt:lpstr>
      <vt:lpstr>PowerPoint Presentation</vt:lpstr>
      <vt:lpstr>PowerPoint Presentation</vt:lpstr>
      <vt:lpstr>PowerPoint Presentation</vt:lpstr>
      <vt:lpstr>Have Questions?</vt:lpstr>
    </vt:vector>
  </TitlesOfParts>
  <Company>Ohio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virginia.ressa</dc:creator>
  <cp:lastModifiedBy>Lisa.Simpson</cp:lastModifiedBy>
  <cp:revision>376</cp:revision>
  <dcterms:created xsi:type="dcterms:W3CDTF">2010-10-04T17:30:52Z</dcterms:created>
  <dcterms:modified xsi:type="dcterms:W3CDTF">2013-05-29T18:16:57Z</dcterms:modified>
</cp:coreProperties>
</file>